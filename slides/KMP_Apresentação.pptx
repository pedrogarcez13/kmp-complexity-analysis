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KMP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77724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Knuth–Morris–Pratt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Complexidade de Tempo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3657600" cy="0"/>
          </a:xfrm>
          <a:prstGeom prst="line">
            <a:avLst/>
          </a:prstGeom>
          <a:noFill/>
          <a:ln w="25400">
            <a:solidFill>
              <a:srgbClr val="B072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572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Garcez  ·  Rafael Ferraz  ·  Denys Leonardo  ·  Felipe Cavalcanti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da Computação  ·  Prof. Daniel Bezerra  ·  CESAR School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+  Java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08760" y="1691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busca de padrão em string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743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KMP — tabela LPS e busca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3794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assintótica: O, Ω, 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4846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casos: melhor, médio e pior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rgbClr val="B0721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69480" y="1691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experimental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640080" cy="640080"/>
          </a:xfrm>
          <a:prstGeom prst="ellipse">
            <a:avLst/>
          </a:prstGeom>
          <a:solidFill>
            <a:srgbClr val="B0721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9480" y="2743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Python e Java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640080" cy="640080"/>
          </a:xfrm>
          <a:prstGeom prst="ellipse">
            <a:avLst/>
          </a:prstGeom>
          <a:solidFill>
            <a:srgbClr val="B0721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9480" y="3794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Aplicabilidade, classe P e reflexão final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Problema: Busca de Padrão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texto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(tamanho n) e um padrão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(tamanho m), encontrar todas as ocorrências de P em 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ABABDABAC</a:t>
            </a:r>
            <a:pPr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ABABCABAB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ABABCABAB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Ocorrência encontrada na posição 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1709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Ingênua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· m)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4380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30175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43800" y="3127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+ m)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3800" y="3886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entrada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4348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4544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4846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+ m)*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3800" y="5303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*médio; pior O(n·m)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Funciona: a Tabela LPS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= Longest Proper Prefix which is also Suffix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 o padrão e indica quanto avançar quando há uma falha, sem retroceder o ponteiro do texto.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4108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9264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44200" y="2606040"/>
            <a:ext cx="1051560" cy="566928"/>
          </a:xfrm>
          <a:prstGeom prst="rect">
            <a:avLst/>
          </a:prstGeom>
          <a:solidFill>
            <a:srgbClr val="1E2761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P[i]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4108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9264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744200" y="3172968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8328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3484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796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8952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4108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9264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744200" y="3739896"/>
            <a:ext cx="1051560" cy="566928"/>
          </a:xfrm>
          <a:prstGeom prst="rect">
            <a:avLst/>
          </a:prstGeom>
          <a:solidFill>
            <a:srgbClr val="FBEFD9"/>
          </a:solidFill>
          <a:ln w="6350">
            <a:solidFill>
              <a:srgbClr val="CCCCC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O(m)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cada caractere do padrão é processado no máximo duas vezes. A LPS permite deslocar o padrão sem retroceder no texto.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Assintótica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16200000">
              <a:srgbClr val="D9D9D9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+ m)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superior. O KMP nunca realiza mais que n + m comparações — independente da entrada.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16200000">
              <a:srgbClr val="D9D9D9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331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Ω(n + m)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inferior. É preciso ler ao menos o texto inteiro (n) e construir a LPS completa (m).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B07219"/>
            </a:solidFill>
            <a:prstDash val="solid"/>
          </a:ln>
          <a:effectLst>
            <a:outerShdw sx="100000" sy="100000" kx="0" ky="0" algn="bl" rotWithShape="0" blurRad="63500" dist="25400" dir="16200000">
              <a:srgbClr val="D9D9D9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38160" y="2331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Θ(n + m)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= Ω, então Θ existe. KMP é assintoticamente ótimo: melhor, médio e pior coincidem.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KMP é um dos poucos algoritmos onde O = Ω = Θ — robusto contra qualquer tipo de entrada.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Casos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16200000">
              <a:srgbClr val="D9D9D9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2C8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Caso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C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n comparações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"aaa…a"   P = "baaa…a"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1º caractere do padrão nunca aparece no texto. A LPS nunca é consultada — 1 comparação por posição.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16200000">
              <a:srgbClr val="D9D9D9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4592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6459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Médio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 + m)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e padrão aleatórios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uniforme sobre alfabeto de 10 letras. Falhas parciais são raras; retrocesso esporádico.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474720" cy="3611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63500" dist="25400" dir="16200000">
              <a:srgbClr val="D9D9D9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64592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6459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2n comparações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"aaa…a"   P = "aa…ab"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352044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= [0,1,…,m−2,0]. Combina m−1 chars, falha no último e retrocede — repetidamente.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 Experimental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Coleta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12080" cy="502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57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Rodadas cronometradas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2900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cenário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5212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243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(warmup)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26243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(descartadas)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91256"/>
            <a:ext cx="5212080" cy="502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191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 (n)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319125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/ 10k / 100k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5212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7581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padrão (m)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37581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de 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5212080" cy="502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29000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+ DP amostral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Execução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2057400"/>
            <a:ext cx="5212080" cy="502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2057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9828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i7-13650HX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2624328"/>
            <a:ext cx="5212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26243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RAM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98280" y="26243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DDR5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3191256"/>
            <a:ext cx="5212080" cy="502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3191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098280" y="319125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3758184"/>
            <a:ext cx="5212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37581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98280" y="37581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 /  JDK 21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4325112"/>
            <a:ext cx="5212080" cy="502920"/>
          </a:xfrm>
          <a:prstGeom prst="rect">
            <a:avLst/>
          </a:prstGeom>
          <a:solidFill>
            <a:srgbClr val="EDEFF7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098280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perf_counter / nanoTime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em segundo plano encerrados durante as medições para minimizar ruído.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Python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100.000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74,63 ± 10,19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799,20 ± 108,18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8.003,94 ± 1.091,06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101,30 ± 86,30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806,87 ± 123,45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9.515,19 ± 3.397,53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101,58 ± 12,82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1.024,84 ± 159,15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11.194,91 ± 603,50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µs (microssegundos).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linear confirmado: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 em n → ×10 no tempo.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esperada: melhor &lt; médio &lt; pior; o pior é ≈ 1,40× mais lento que o melhor (retrocesso via LPS).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Java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100.000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21,72 ± 1,23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51,12 ± 11,93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114,73 ± 28,69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8,67 ± 7,91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69,12 ± 44,58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250,86 ± 36,36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10,40 ± 8,09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84,45 ± 43,69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222,30 ± 37,44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entradas idênticas às do Python,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pior caso agora supera corretamente o melhor — a anomalia anterior sumiu. O caso médio virou o mais lento: seu alfabeto variado gera comparações reais e desvios pouco previsíveis (branch prediction e cache piores), enquanto melhor e pior usam texto de um único caractere.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Tempos em µs são sensíveis a ruído — daí os desvios altos em n pequeno. Crescimento O(n+m).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vs. Java  (n = 100.000)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70×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178308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mais rápido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38×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32004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mais rápido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50×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926080" y="461772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mais rápido</a:t>
            </a:r>
            <a:endParaRPr lang="en-US" sz="1800" dirty="0"/>
          </a:p>
        </p:txBody>
      </p:sp>
      <p:pic>
        <p:nvPicPr>
          <p:cNvPr id="13" name="Image 0" descr="/sessions/laughing-eloquent-cerf/mnt/kmp-complexity-analysis/graficos/kmp_python_vs_ja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828800"/>
            <a:ext cx="5943600" cy="1981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0" y="4206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usa código nativo (JIT) e arrays de char primitivos; Python paga overhead de interpretação e objetos Unicode.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Editores de Texto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substituição — base do grep e do Ctrl+F.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74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578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4505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sequências em genomas de bilhões de pares de base.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874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0684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66760" y="24505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padrões em IDS, antivírus e firewalls.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423367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profunda de pacotes (DPI) para filtros de conteúdo.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5204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5780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Compressão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423367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Relacionado ao LZ77 — base de ZIP, GZIP e DEFLATE.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07219"/>
            </a:solidFill>
            <a:prstDash val="solid"/>
          </a:ln>
          <a:effectLst>
            <a:outerShdw sx="100000" sy="100000" kx="0" ky="0" algn="bl" rotWithShape="0" blurRad="50800" dist="25400" dir="16200000">
              <a:srgbClr val="D9D9D9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3657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06840" y="3703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66760" y="423367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busca exata. Aproximada → Levenshtein ou BK-Tree.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Reflexão Final: Classe P e NP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E9F5EC"/>
          </a:solidFill>
          <a:ln w="19050">
            <a:solidFill>
              <a:srgbClr val="2C8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KMP pertence à classe 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busca exata em tempo linear O(n + m) — polinomial no tamanho da entrada.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algoritmo determinístico eficiente para qualquer entrada.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 + m)  ⊂  DTIME(n)  ⊂  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Problemas relacionados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Comum Mais Longa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0" y="246888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2C8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DP O(n·m)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Aproximada (Edit Dist.)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306324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2C8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DP O(n·m)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Regulares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0" y="365760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2C8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Autômatos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Superstring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0" y="425196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intratabilidade surge só em variantes de otimização sobre múltiplos padrões/strings, como o Menor Superstring.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508760"/>
            <a:ext cx="3200400" cy="0"/>
          </a:xfrm>
          <a:prstGeom prst="line">
            <a:avLst/>
          </a:prstGeom>
          <a:noFill/>
          <a:ln w="25400">
            <a:solidFill>
              <a:srgbClr val="B072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resolve busca de padrão em Θ(n + m) — ótimo em todos os casos.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7004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LPS é a chave: desloca o padrão sem retroceder no texto.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1985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341985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foi 38×–70× mais rápido que Python para n = 100.000.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16966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41696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confirmaram crescimento linear nas duas linguagens.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2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49194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à classe P, com ampla aplicabilidade prática.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github.com/PedroGarcez13/kmp-complexity-analysis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2026-06-17T00:21:38Z</dcterms:created>
  <dcterms:modified xsi:type="dcterms:W3CDTF">2026-06-17T00:21:38Z</dcterms:modified>
</cp:coreProperties>
</file>