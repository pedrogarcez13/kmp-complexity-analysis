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KMP</a:t>
            </a:r>
            <a:endParaRPr lang="en-US" sz="7600" dirty="0"/>
          </a:p>
        </p:txBody>
      </p:sp>
      <p:sp>
        <p:nvSpPr>
          <p:cNvPr id="3" name="Text 1"/>
          <p:cNvSpPr/>
          <p:nvPr/>
        </p:nvSpPr>
        <p:spPr>
          <a:xfrm>
            <a:off x="777240" y="28803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Knuth–Morris–Pratt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35204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Complexidade de Tempo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3657600" cy="0"/>
          </a:xfrm>
          <a:prstGeom prst="line">
            <a:avLst/>
          </a:prstGeom>
          <a:noFill/>
          <a:ln w="25400">
            <a:solidFill>
              <a:srgbClr val="B0721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45720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Garcez  ·  Rafael Ferraz  ·  Denys Leonardo  ·  Felipe Cavalcanti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50292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 da Computação  ·  Prof. Daniel Bezerra  ·  CESAR School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5577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 +  Java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08760" y="16916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Problema: busca de padrão em string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508760" y="274320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 o KMP — tabela LPS e busca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508760" y="3794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assintótica: O, Ω, 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484632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508760" y="484632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casos: melhor, médio e pior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0" y="1691640"/>
            <a:ext cx="640080" cy="640080"/>
          </a:xfrm>
          <a:prstGeom prst="ellipse">
            <a:avLst/>
          </a:prstGeom>
          <a:solidFill>
            <a:srgbClr val="B0721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269480" y="16916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experimental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2743200"/>
            <a:ext cx="640080" cy="640080"/>
          </a:xfrm>
          <a:prstGeom prst="ellipse">
            <a:avLst/>
          </a:prstGeom>
          <a:solidFill>
            <a:srgbClr val="B0721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269480" y="274320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Resultados: Python e Java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640080" cy="640080"/>
          </a:xfrm>
          <a:prstGeom prst="ellipse">
            <a:avLst/>
          </a:prstGeom>
          <a:solidFill>
            <a:srgbClr val="B0721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269480" y="3794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Aplicabilidade, classe P e reflexão final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Problema: Busca de Padrão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6035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um texto </a:t>
            </a:r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(tamanho n) e um padrão </a:t>
            </a:r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(tamanho m), encontrar todas as ocorrências de P em 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ABABDABAC</a:t>
            </a:r>
            <a:pPr indent="0" marL="0">
              <a:buNone/>
            </a:pPr>
            <a:r>
              <a:rPr lang="en-US" sz="1500" b="1" dirty="0">
                <a:solidFill>
                  <a:srgbClr val="B072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ABABCABAB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ABABCABAB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42900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Ocorrência encontrada na posição 10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0" y="160020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50800" dist="25400" dir="16200000">
              <a:srgbClr val="D9D9D9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543800" y="170992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Ingênua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543800" y="20116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O(n · m)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543800" y="24688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pior caso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0" y="301752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50800" dist="25400" dir="16200000">
              <a:srgbClr val="D9D9D9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543800" y="312724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543800" y="34290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O(n + m)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543800" y="38862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entrada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0" y="443484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50800" dist="25400" dir="16200000">
              <a:srgbClr val="D9D9D9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454456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Rabin–Karp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543800" y="48463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72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O(n + m)*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543800" y="53035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*médio; pior O(n·m)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Funciona: a Tabela LPS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LPS = Longest Proper Prefix which is also Suffix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 o padrão e indica quanto avançar quando há uma falha, sem retroceder o ponteiro do texto.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2606040"/>
            <a:ext cx="1051560" cy="566928"/>
          </a:xfrm>
          <a:prstGeom prst="rect">
            <a:avLst/>
          </a:prstGeom>
          <a:solidFill>
            <a:srgbClr val="1E2761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31720" y="2606040"/>
            <a:ext cx="1051560" cy="566928"/>
          </a:xfrm>
          <a:prstGeom prst="rect">
            <a:avLst/>
          </a:prstGeom>
          <a:solidFill>
            <a:srgbClr val="1E2761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383280" y="2606040"/>
            <a:ext cx="1051560" cy="566928"/>
          </a:xfrm>
          <a:prstGeom prst="rect">
            <a:avLst/>
          </a:prstGeom>
          <a:solidFill>
            <a:srgbClr val="1E2761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434840" y="2606040"/>
            <a:ext cx="1051560" cy="566928"/>
          </a:xfrm>
          <a:prstGeom prst="rect">
            <a:avLst/>
          </a:prstGeom>
          <a:solidFill>
            <a:srgbClr val="1E2761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0" y="2606040"/>
            <a:ext cx="1051560" cy="566928"/>
          </a:xfrm>
          <a:prstGeom prst="rect">
            <a:avLst/>
          </a:prstGeom>
          <a:solidFill>
            <a:srgbClr val="1E2761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2606040"/>
            <a:ext cx="1051560" cy="566928"/>
          </a:xfrm>
          <a:prstGeom prst="rect">
            <a:avLst/>
          </a:prstGeom>
          <a:solidFill>
            <a:srgbClr val="1E2761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589520" y="2606040"/>
            <a:ext cx="1051560" cy="566928"/>
          </a:xfrm>
          <a:prstGeom prst="rect">
            <a:avLst/>
          </a:prstGeom>
          <a:solidFill>
            <a:srgbClr val="1E2761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641080" y="2606040"/>
            <a:ext cx="1051560" cy="566928"/>
          </a:xfrm>
          <a:prstGeom prst="rect">
            <a:avLst/>
          </a:prstGeom>
          <a:solidFill>
            <a:srgbClr val="1E2761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92640" y="2606040"/>
            <a:ext cx="1051560" cy="566928"/>
          </a:xfrm>
          <a:prstGeom prst="rect">
            <a:avLst/>
          </a:prstGeom>
          <a:solidFill>
            <a:srgbClr val="1E2761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744200" y="2606040"/>
            <a:ext cx="1051560" cy="566928"/>
          </a:xfrm>
          <a:prstGeom prst="rect">
            <a:avLst/>
          </a:prstGeom>
          <a:solidFill>
            <a:srgbClr val="1E2761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3172968"/>
            <a:ext cx="1051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P[i]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31720" y="3172968"/>
            <a:ext cx="1051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383280" y="3172968"/>
            <a:ext cx="1051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434840" y="3172968"/>
            <a:ext cx="1051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0" y="3172968"/>
            <a:ext cx="1051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37960" y="3172968"/>
            <a:ext cx="1051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589520" y="3172968"/>
            <a:ext cx="1051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641080" y="3172968"/>
            <a:ext cx="1051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692640" y="3172968"/>
            <a:ext cx="1051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744200" y="3172968"/>
            <a:ext cx="1051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280160" y="3739896"/>
            <a:ext cx="1051560" cy="566928"/>
          </a:xfrm>
          <a:prstGeom prst="rect">
            <a:avLst/>
          </a:prstGeom>
          <a:solidFill>
            <a:srgbClr val="FBEFD9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331720" y="3739896"/>
            <a:ext cx="1051560" cy="566928"/>
          </a:xfrm>
          <a:prstGeom prst="rect">
            <a:avLst/>
          </a:prstGeom>
          <a:solidFill>
            <a:srgbClr val="FBEFD9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72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383280" y="3739896"/>
            <a:ext cx="1051560" cy="566928"/>
          </a:xfrm>
          <a:prstGeom prst="rect">
            <a:avLst/>
          </a:prstGeom>
          <a:solidFill>
            <a:srgbClr val="FBEFD9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72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434840" y="3739896"/>
            <a:ext cx="1051560" cy="566928"/>
          </a:xfrm>
          <a:prstGeom prst="rect">
            <a:avLst/>
          </a:prstGeom>
          <a:solidFill>
            <a:srgbClr val="FBEFD9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72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0" y="3739896"/>
            <a:ext cx="1051560" cy="566928"/>
          </a:xfrm>
          <a:prstGeom prst="rect">
            <a:avLst/>
          </a:prstGeom>
          <a:solidFill>
            <a:srgbClr val="FBEFD9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72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537960" y="3739896"/>
            <a:ext cx="1051560" cy="566928"/>
          </a:xfrm>
          <a:prstGeom prst="rect">
            <a:avLst/>
          </a:prstGeom>
          <a:solidFill>
            <a:srgbClr val="FBEFD9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72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589520" y="3739896"/>
            <a:ext cx="1051560" cy="566928"/>
          </a:xfrm>
          <a:prstGeom prst="rect">
            <a:avLst/>
          </a:prstGeom>
          <a:solidFill>
            <a:srgbClr val="FBEFD9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72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641080" y="3739896"/>
            <a:ext cx="1051560" cy="566928"/>
          </a:xfrm>
          <a:prstGeom prst="rect">
            <a:avLst/>
          </a:prstGeom>
          <a:solidFill>
            <a:srgbClr val="FBEFD9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72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692640" y="3739896"/>
            <a:ext cx="1051560" cy="566928"/>
          </a:xfrm>
          <a:prstGeom prst="rect">
            <a:avLst/>
          </a:prstGeom>
          <a:solidFill>
            <a:srgbClr val="FBEFD9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72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0744200" y="3739896"/>
            <a:ext cx="1051560" cy="566928"/>
          </a:xfrm>
          <a:prstGeom prst="rect">
            <a:avLst/>
          </a:prstGeom>
          <a:solidFill>
            <a:srgbClr val="FBEFD9"/>
          </a:solidFill>
          <a:ln w="6350">
            <a:solidFill>
              <a:srgbClr val="CCCCC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72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40080" y="4754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Complexidade: O(m)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cada caractere do padrão é processado no máximo duas vezes. A LPS permite deslocar o padrão sem retroceder no texto.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Classificação Assintótica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747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63500" dist="25400" dir="16200000">
              <a:srgbClr val="D9D9D9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O(n + m)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superior. O KMP nunca realiza mais que n + m comparações — independente da entrada.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4747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63500" dist="25400" dir="16200000">
              <a:srgbClr val="D9D9D9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38912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389120" y="23317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Ω(n + m)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663440" y="320040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inferior. É preciso ler ao menos o texto inteiro (n) e construir a LPS completa (m).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4747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5400">
            <a:solidFill>
              <a:srgbClr val="B07219"/>
            </a:solidFill>
            <a:prstDash val="solid"/>
          </a:ln>
          <a:effectLst>
            <a:outerShdw sx="100000" sy="100000" kx="0" ky="0" algn="bl" rotWithShape="0" blurRad="63500" dist="25400" dir="16200000">
              <a:srgbClr val="D9D9D9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13816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38160" y="23317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Θ(n + m)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8412480" y="320040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= Ω, então Θ existe. KMP é assintoticamente ótimo: melhor, médio e pior coincidem.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KMP é um dos poucos algoritmos onde O = Ω = Θ — robusto contra qualquer tipo de entrada.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Análise de Casos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74720" cy="361188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63500" dist="25400" dir="16200000">
              <a:srgbClr val="D9D9D9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3474720" cy="566928"/>
          </a:xfrm>
          <a:prstGeom prst="roundRect">
            <a:avLst>
              <a:gd name="adj" fmla="val 16129"/>
            </a:avLst>
          </a:prstGeom>
          <a:solidFill>
            <a:srgbClr val="2C8A4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45920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Caso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C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n comparações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"aaa…a"   P = "baaa…a"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4400" y="352044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1º caractere do padrão nunca aparece no texto. A LPS nunca é consultada — 1 comparação por posição.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89120" y="1645920"/>
            <a:ext cx="3474720" cy="361188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63500" dist="25400" dir="16200000">
              <a:srgbClr val="D9D9D9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89120" y="1645920"/>
            <a:ext cx="3474720" cy="566928"/>
          </a:xfrm>
          <a:prstGeom prst="roundRect">
            <a:avLst>
              <a:gd name="adj" fmla="val 16129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1645920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Médio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89120" y="23774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O(n + m)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17720" y="29260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Texto e padrão aleatórios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663440" y="352044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uniforme sobre alfabeto de 10 letras. Falhas parciais são raras; retrocesso esporádico.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38160" y="1645920"/>
            <a:ext cx="3474720" cy="361188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63500" dist="25400" dir="16200000">
              <a:srgbClr val="D9D9D9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38160" y="1645920"/>
            <a:ext cx="3474720" cy="566928"/>
          </a:xfrm>
          <a:prstGeom prst="roundRect">
            <a:avLst>
              <a:gd name="adj" fmla="val 16129"/>
            </a:avLst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8138160" y="1645920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Pior Caso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138160" y="23774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2n comparações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366760" y="29260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"aaa…a"   P = "aa…ab"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0" y="352044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LPS = [0,1,…,m−2,0]. Combina m−1 chars, falha no último e retrocede — repetidamente.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Metodologia Experimental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de Coleta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212080" cy="502920"/>
          </a:xfrm>
          <a:prstGeom prst="rect">
            <a:avLst/>
          </a:prstGeom>
          <a:solidFill>
            <a:srgbClr val="EDEFF7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20574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Rodadas cronometradas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429000" y="20574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cenário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5212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6243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Aquecimento (warmup)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429000" y="2624328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(descartadas)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191256"/>
            <a:ext cx="5212080" cy="502920"/>
          </a:xfrm>
          <a:prstGeom prst="rect">
            <a:avLst/>
          </a:prstGeom>
          <a:solidFill>
            <a:srgbClr val="EDEFF7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19125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Tamanhos (n)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429000" y="3191256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1k / 10k / 100k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758184"/>
            <a:ext cx="5212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3758184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Tamanho do padrão (m)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429000" y="3758184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de 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325112"/>
            <a:ext cx="5212080" cy="502920"/>
          </a:xfrm>
          <a:prstGeom prst="rect">
            <a:avLst/>
          </a:prstGeom>
          <a:solidFill>
            <a:srgbClr val="EDEFF7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432511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Estatística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429000" y="4325112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+ DP amostral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309360" y="16002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de Execução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309360" y="2057400"/>
            <a:ext cx="5212080" cy="502920"/>
          </a:xfrm>
          <a:prstGeom prst="rect">
            <a:avLst/>
          </a:prstGeom>
          <a:solidFill>
            <a:srgbClr val="EDEFF7"/>
          </a:solidFill>
          <a:ln/>
        </p:spPr>
      </p:sp>
      <p:sp>
        <p:nvSpPr>
          <p:cNvPr id="22" name="Text 20"/>
          <p:cNvSpPr/>
          <p:nvPr/>
        </p:nvSpPr>
        <p:spPr>
          <a:xfrm>
            <a:off x="6419088" y="20574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Processador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098280" y="20574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i7-13650HX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2624328"/>
            <a:ext cx="5212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19088" y="26243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RAM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098280" y="2624328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GB DDR5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3191256"/>
            <a:ext cx="5212080" cy="502920"/>
          </a:xfrm>
          <a:prstGeom prst="rect">
            <a:avLst/>
          </a:prstGeom>
          <a:solidFill>
            <a:srgbClr val="EDEFF7"/>
          </a:solidFill>
          <a:ln/>
        </p:spPr>
      </p:sp>
      <p:sp>
        <p:nvSpPr>
          <p:cNvPr id="28" name="Text 26"/>
          <p:cNvSpPr/>
          <p:nvPr/>
        </p:nvSpPr>
        <p:spPr>
          <a:xfrm>
            <a:off x="6419088" y="319125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Op.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098280" y="3191256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11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3758184"/>
            <a:ext cx="5212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3758184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Java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098280" y="3758184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3.13  /  JDK 21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09360" y="4325112"/>
            <a:ext cx="5212080" cy="502920"/>
          </a:xfrm>
          <a:prstGeom prst="rect">
            <a:avLst/>
          </a:prstGeom>
          <a:solidFill>
            <a:srgbClr val="EDEFF7"/>
          </a:solidFill>
          <a:ln/>
        </p:spPr>
      </p:sp>
      <p:sp>
        <p:nvSpPr>
          <p:cNvPr id="34" name="Text 32"/>
          <p:cNvSpPr/>
          <p:nvPr/>
        </p:nvSpPr>
        <p:spPr>
          <a:xfrm>
            <a:off x="6419088" y="432511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9098280" y="4325112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perf_counter / nanoTime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40080" y="5212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em segundo plano encerrados durante as medições para minimizar ruído.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Resultados — Python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20240"/>
          <a:ext cx="10515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2743200"/>
                <a:gridCol w="2743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1.000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10.000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100.000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Melhor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77,32 ± 13,07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782,98 ± 79,04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7.851,24 ± 284,85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77,60 ± 14,85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779,99 ± 48,64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7.786,46 ± 316,21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90,32 ± 11,27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947,90 ± 162,32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10.714,53 ± 345,39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µs (microssegundos). 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linear confirmado: </a:t>
            </a:r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 em n → ×10 no tempo. 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≈ Médio; Pior ≈ 1,37× mais lento (constante do retrocesso via LPS).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Resultados — Java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20240"/>
          <a:ext cx="10515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2743200"/>
                <a:gridCol w="2743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1.000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10.000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100.000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Melhor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20,98 ± 3,64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48,23 ± 11,68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111,33 ± 42,14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7,41 ± 6,81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58,97 ± 15,76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231,04 ± 10,98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 ± 0,06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14,40 ± 1,78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135,51 ± 10,72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Anomalia: o "pior caso" foi o mais rápido. 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Causas combinadas — (1) entradas de caractere único geram branch prediction e cache quase perfeitos; (2) os 3 casos rodam na mesma JVM em ordem fixa, então o JIT esquenta progressivamente (melhor roda interpretado, pior roda compilado). </a:t>
            </a:r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Limitação: 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isolar cada caso em JVM separada (ex.: JMH) tornaria a comparação entre casos mais justa. O crescimento permanece O(n+m).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Python vs. Java  (n = 100.000)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029200" cy="1234440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2103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70×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926080" y="1783080"/>
            <a:ext cx="2651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
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mais rápido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200400"/>
            <a:ext cx="5029200" cy="1234440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00400"/>
            <a:ext cx="2103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34×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926080" y="3200400"/>
            <a:ext cx="2651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
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mais rápido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5029200" cy="1234440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617720"/>
            <a:ext cx="2103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79×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926080" y="4617720"/>
            <a:ext cx="2651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Pior
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mais rápido</a:t>
            </a:r>
            <a:endParaRPr lang="en-US" sz="1800" dirty="0"/>
          </a:p>
        </p:txBody>
      </p:sp>
      <p:pic>
        <p:nvPicPr>
          <p:cNvPr id="13" name="Image 0" descr="/sessions/laughing-eloquent-cerf/mnt/kmp-complexity-analysis/graficos/kmp_python_vs_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828800"/>
            <a:ext cx="5943600" cy="19812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943600" y="4206240"/>
            <a:ext cx="5943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usa código nativo (JIT) e arrays de char primitivos; Python paga overhead de interpretação e objetos Unicode.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Aplicabilidade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50800" dist="25400" dir="16200000">
              <a:srgbClr val="D9D9D9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08760" y="19202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Editores de Texto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450592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 substituição — base do grep e do Ctrl+F.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173736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50800" dist="25400" dir="16200000">
              <a:srgbClr val="D9D9D9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8745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🧬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257800" y="19202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Bioinformática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17720" y="2450592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de sequências em genomas de bilhões de pares de base.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73736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50800" dist="25400" dir="16200000">
              <a:srgbClr val="D9D9D9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8745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🛡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006840" y="19202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366760" y="2450592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padrões em IDS, antivírus e firewalls.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50800" dist="25400" dir="16200000">
              <a:srgbClr val="D9D9D9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3657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🌐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08760" y="37033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68680" y="4233672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profunda de pacotes (DPI) para filtros de conteúdo.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89120" y="352044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sx="100000" sy="100000" kx="0" ky="0" algn="bl" rotWithShape="0" blurRad="50800" dist="25400" dir="16200000">
              <a:srgbClr val="D9D9D9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0" y="3657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📦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257800" y="37033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Compressão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617720" y="4233672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Relacionado ao LZ77 — base de ZIP, GZIP e DEFLATE.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52044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B07219"/>
            </a:solidFill>
            <a:prstDash val="solid"/>
          </a:ln>
          <a:effectLst>
            <a:outerShdw sx="100000" sy="100000" kx="0" ky="0" algn="bl" rotWithShape="0" blurRad="50800" dist="25400" dir="16200000">
              <a:srgbClr val="D9D9D9">
                <a:alpha val="5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21040" y="3657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⚠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9006840" y="37033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366760" y="4233672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busca exata. Aproximada → Levenshtein ou BK-Tree.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Reflexão Final: Classe P e NP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3383280"/>
          </a:xfrm>
          <a:prstGeom prst="roundRect">
            <a:avLst>
              <a:gd name="adj" fmla="val 2703"/>
            </a:avLst>
          </a:prstGeom>
          <a:solidFill>
            <a:srgbClr val="E9F5EC"/>
          </a:solidFill>
          <a:ln w="19050">
            <a:solidFill>
              <a:srgbClr val="2C8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202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KMP pertence à classe 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 busca exata em tempo linear O(n + m) — polinomial no tamanho da entrada.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algoritmo determinístico eficiente para qualquer entrada.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43434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Θ(n + m)  ⊂  DTIME(n)  ⊂  P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09360" y="1691640"/>
            <a:ext cx="521208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9202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7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Problemas relacionados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83680" y="246888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Substring Comum Mais Longa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92640" y="2468880"/>
            <a:ext cx="1691640" cy="502920"/>
          </a:xfrm>
          <a:prstGeom prst="roundRect">
            <a:avLst>
              <a:gd name="adj" fmla="val 9091"/>
            </a:avLst>
          </a:prstGeom>
          <a:solidFill>
            <a:srgbClr val="2C8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— DP O(n·m)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83680" y="306324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Aproximada (Edit Dist.)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3063240"/>
            <a:ext cx="1691640" cy="502920"/>
          </a:xfrm>
          <a:prstGeom prst="roundRect">
            <a:avLst>
              <a:gd name="adj" fmla="val 9091"/>
            </a:avLst>
          </a:prstGeom>
          <a:solidFill>
            <a:srgbClr val="2C8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— DP O(n·m)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0" y="36576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 Regulares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92640" y="3657600"/>
            <a:ext cx="1691640" cy="502920"/>
          </a:xfrm>
          <a:prstGeom prst="roundRect">
            <a:avLst>
              <a:gd name="adj" fmla="val 9091"/>
            </a:avLst>
          </a:prstGeom>
          <a:solidFill>
            <a:srgbClr val="2C8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— Autômatos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83680" y="42519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Superstring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92640" y="4251960"/>
            <a:ext cx="1691640" cy="502920"/>
          </a:xfrm>
          <a:prstGeom prst="roundRect">
            <a:avLst>
              <a:gd name="adj" fmla="val 9091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NP-completo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intratabilidade surge só em variantes de otimização sobre múltiplos padrões/strings, como o Menor Superstring.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Conclusões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77240" y="1508760"/>
            <a:ext cx="3200400" cy="0"/>
          </a:xfrm>
          <a:prstGeom prst="line">
            <a:avLst/>
          </a:prstGeom>
          <a:noFill/>
          <a:ln w="25400">
            <a:solidFill>
              <a:srgbClr val="B0721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9202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72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1920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resolve busca de padrão em Θ(n + m) — ótimo em todos os casos.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67004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72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2670048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tabela LPS é a chave: desloca o padrão sem retroceder no texto.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41985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72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80160" y="3419856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foi 34×–79× mais rápido que Python para n = 100.000.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416966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72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80160" y="416966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confirmaram crescimento linear nas duas linguagens.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491947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72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280160" y="4919472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Pertence à classe P, com ampla aplicabilidade prática.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github.com/PedroGarcez13/kmp-complexity-analysis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2026-06-16T23:16:54Z</dcterms:created>
  <dcterms:modified xsi:type="dcterms:W3CDTF">2026-06-16T23:16:54Z</dcterms:modified>
</cp:coreProperties>
</file>