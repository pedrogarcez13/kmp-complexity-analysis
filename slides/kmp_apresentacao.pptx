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Melhor</c:v>
                </c:pt>
              </c:strCache>
            </c:strRef>
          </c:tx>
          <c:spPr>
            <a:solidFill>
              <a:srgbClr val="16A34A"/>
            </a:solidFill>
            <a:ln w="381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1K</c:v>
                  </c:pt>
                  <c:pt idx="1">
                    <c:v>10K</c:v>
                  </c:pt>
                  <c:pt idx="2">
                    <c:v>100K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77.32</c:v>
                </c:pt>
                <c:pt idx="1">
                  <c:v>782.32</c:v>
                </c:pt>
                <c:pt idx="2">
                  <c:v>7851.24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Médio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1K</c:v>
                  </c:pt>
                  <c:pt idx="1">
                    <c:v>10K</c:v>
                  </c:pt>
                  <c:pt idx="2">
                    <c:v>100K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77.6</c:v>
                </c:pt>
                <c:pt idx="1">
                  <c:v>779.99</c:v>
                </c:pt>
                <c:pt idx="2">
                  <c:v>7786.46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Pior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1K</c:v>
                  </c:pt>
                  <c:pt idx="1">
                    <c:v>10K</c:v>
                  </c:pt>
                  <c:pt idx="2">
                    <c:v>100K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90.32</c:v>
                </c:pt>
                <c:pt idx="1">
                  <c:v>947.9</c:v>
                </c:pt>
                <c:pt idx="2">
                  <c:v>10714.53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Tamanho da entrada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Tempo (µs)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Melhor</c:v>
                </c:pt>
              </c:strCache>
            </c:strRef>
          </c:tx>
          <c:spPr>
            <a:solidFill>
              <a:srgbClr val="16A34A"/>
            </a:solidFill>
            <a:ln w="381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1K</c:v>
                  </c:pt>
                  <c:pt idx="1">
                    <c:v>10K</c:v>
                  </c:pt>
                  <c:pt idx="2">
                    <c:v>100K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20.98</c:v>
                </c:pt>
                <c:pt idx="1">
                  <c:v>48.23</c:v>
                </c:pt>
                <c:pt idx="2">
                  <c:v>111.33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Médio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1K</c:v>
                  </c:pt>
                  <c:pt idx="1">
                    <c:v>10K</c:v>
                  </c:pt>
                  <c:pt idx="2">
                    <c:v>100K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7.41</c:v>
                </c:pt>
                <c:pt idx="1">
                  <c:v>58.97</c:v>
                </c:pt>
                <c:pt idx="2">
                  <c:v>231.04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Pior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1K</c:v>
                  </c:pt>
                  <c:pt idx="1">
                    <c:v>10K</c:v>
                  </c:pt>
                  <c:pt idx="2">
                    <c:v>100K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1.44</c:v>
                </c:pt>
                <c:pt idx="1">
                  <c:v>14.4</c:v>
                </c:pt>
                <c:pt idx="2">
                  <c:v>135.51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Tamanho da entrada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Tempo (µs)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rgbClr val="3572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Melhor</c:v>
                  </c:pt>
                  <c:pt idx="1">
                    <c:v>Médio</c:v>
                  </c:pt>
                  <c:pt idx="2">
                    <c:v>Pior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7851.24</c:v>
                </c:pt>
                <c:pt idx="1">
                  <c:v>7786.46</c:v>
                </c:pt>
                <c:pt idx="2">
                  <c:v>10714.53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Java</c:v>
                </c:pt>
              </c:strCache>
            </c:strRef>
          </c:tx>
          <c:spPr>
            <a:solidFill>
              <a:srgbClr val="B072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Melhor</c:v>
                  </c:pt>
                  <c:pt idx="1">
                    <c:v>Médio</c:v>
                  </c:pt>
                  <c:pt idx="2">
                    <c:v>Pior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111.33</c:v>
                </c:pt>
                <c:pt idx="1">
                  <c:v>231.04</c:v>
                </c:pt>
                <c:pt idx="2">
                  <c:v>135.51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Tempo (µs)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os membros da equipe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Enfatize que a busca ingênua pode ser O(n·m) em casos adversariais. KMP garante O(n+m)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LPS com o exemplo. LPS[i] = comprimento do maior prefixo próprio de P[0..i] que também é sufixo.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O = Ω implica Θ. KMP não tem "caso ruim" assintótico — é sempre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no pior caso, o KMP nunca ultrapassa O(n+m). A diferença entre casos é apenas na constante multiplicativa (1x vs 2x).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preencher CPU e RAM antes da apresentação. O aquecimento é importante para o JIT do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mostra crescimento linear claro. Melhor e médio caso são praticamente idênticos. Pior caso é ~1.37x maior.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Destaque: em Java o "pior caso" mediu MENOS que o melhor. Isso ocorre porque a JVM otimiza padrões repetitivos com JIT. É um resultado válido e interessante de discutir.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é muito mais rápido que Python em todos os casos. Diferença principal: JIT do Java vs. interpretação do Python. Ambos mantêm crescimento O(n+m).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Bioinformática é o exemplo mais impactante: KMP em texto de 3 bilhões de bases — busca ingênua seria inviável.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Menor Superstring: encontrar a menor string que contém todas as outras como substring — é NP-completo. Uma versão "mais difícil" do mesmo domínio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final. Agradecer e abrir para perguntas. Deixar o GitHub visível para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645920"/>
            <a:ext cx="6400800" cy="64008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1200" kern="0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KMP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Knuth-Morris-Pratt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Complexidade de Tempo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4747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54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Garcez  ·  [Nome 2]  ·  [Nome 3]  ·  [Nome 4]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Computação  ·  Prof. Daniel Bezerra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+  Java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84124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Busca de Padrão em String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o KMP — Tabela LPS e Busca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299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Assintótica: O, Ω, 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6243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Casos: Melhor, Médio e Pior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21868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Experimental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81304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Python e Java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38912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407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Aplicabilidade, Classe P e Reflexão Final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Problema: Busca de Padrão em String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texto T (comprimento n) e um padrão P (comprimento m),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todas as ocorrências de P em 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411480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Exemplo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"ABABDABACDABABCABAB"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"ABABCABAB"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Ocorrência encontrada na posição 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777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busca ingênua?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023360" cy="822960"/>
          </a:xfrm>
          <a:prstGeom prst="round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371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Busca Ingênua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O(n · m)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55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pior caso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023360" cy="822960"/>
          </a:xfrm>
          <a:prstGeom prst="round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377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KMP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O(n + m)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pior caso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023360" cy="822960"/>
          </a:xfrm>
          <a:prstGeom prst="round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383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Rabin-Karp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383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O(n + m)*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pior caso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Como Funciona: A Tabela LPS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LPS = Longest Proper Prefix which is also Suffix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LPS pré-processa o padrão e indica quanto podemos avançar quando encontramos uma falha, sem retroceder no ponteiro do texto.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Exemplo: P = "ABABCABAB"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12848"/>
          <a:ext cx="8412480" cy="1463040"/>
        </p:xfrm>
        <a:graphic>
          <a:graphicData uri="http://schemas.openxmlformats.org/drawingml/2006/table">
            <a:tbl>
              <a:tblPr/>
              <a:tblGrid>
                <a:gridCol w="822960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840480"/>
            <a:ext cx="8412480" cy="1005840"/>
          </a:xfrm>
          <a:prstGeom prst="round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O(m)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Cada caractere do padrão é processado no máximo duas vezes.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LPS permite deslocar o padrão sem retroceder o ponteiro do texto.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Classificação Assintótica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4114800"/>
          </a:xfrm>
          <a:prstGeom prst="round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Big-O  (O)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+ m)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2148840" cy="27432"/>
          </a:xfrm>
          <a:prstGeom prst="rect">
            <a:avLst/>
          </a:prstGeom>
          <a:solidFill>
            <a:srgbClr val="DC2626">
              <a:alpha val="5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1460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superior. O KMP nunca realiza mais que n + m comparações — independente do tipo de entrada.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88920" cy="4114800"/>
          </a:xfrm>
          <a:prstGeom prst="round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914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Big-Ω  (Omega)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Ω(n + m)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2395728"/>
            <a:ext cx="2148840" cy="27432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51460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inferior. O algoritmo precisa ler ao menos o texto inteiro (n) e construir a LPS completa (m).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88920" cy="4114800"/>
          </a:xfrm>
          <a:prstGeom prst="round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914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Big-Θ  (Theta)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 + m)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2148840" cy="27432"/>
          </a:xfrm>
          <a:prstGeom prst="rect">
            <a:avLst/>
          </a:prstGeom>
          <a:solidFill>
            <a:srgbClr val="16A34A">
              <a:alpha val="5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51460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Ω, portanto Θ existe. KMP é assintoticamente ótimo: melhor, médio e pior caso coincidem.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 KMP é um dos poucos algoritmos onde O = Ω = Θ — robusto contra qualquer tipo de entrada.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Análise de Casos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4114800"/>
          </a:xfrm>
          <a:prstGeom prst="round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 Caso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n comparações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Entrada usada: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"aaa...a"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"baaa...a"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944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Por quê?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caractere do padrão nunca aparece no texto. A LPS nunca é consultada. 1 comparação por posição.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788920" cy="4114800"/>
          </a:xfrm>
          <a:prstGeom prst="round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9144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Médio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371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+ 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Entrada usada: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21284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e padrão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aletórios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944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Por quê?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24612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uniforme sobre alfabeto. Falhas parciais são raras. Retrocesso via LPS ocorre esporadicamente.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788920" cy="4114800"/>
          </a:xfrm>
          <a:prstGeom prst="round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9144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 Caso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371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2n comparações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Entrada usada: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21284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"aaa...a"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"aaa...ab"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944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Por quê?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24612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= [0,1,2,...,m-2,0]. O algoritmo combina m-1 chars, falha no último e retrocede — repetidamente.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Metodologia Experimental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Coleta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4206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Rodadas cronometradas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por cenário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4114800" cy="420624"/>
          </a:xfrm>
          <a:prstGeom prst="round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 (warmup)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rodadas (descartadas)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03704"/>
            <a:ext cx="4114800" cy="4206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67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Tamanhos (n)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/ 10.000 / 100.000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4114800" cy="420624"/>
          </a:xfrm>
          <a:prstGeom prst="round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523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padrão (m)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7523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de 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4114800" cy="4206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36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Python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3236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time.perf_counter()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14800" cy="420624"/>
          </a:xfrm>
          <a:prstGeom prst="round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21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Java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System.nanoTime()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42232"/>
            <a:ext cx="4114800" cy="42062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+ desvio-padrão amostral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de Execução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1234440"/>
            <a:ext cx="4023360" cy="56692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9472" y="1344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Processador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1344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[Especificar]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920240"/>
            <a:ext cx="4023360" cy="56692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9472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Memória RAM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2029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[Especificar]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606040"/>
            <a:ext cx="4023360" cy="56692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19472" y="2715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Sistema Op.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2715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Windows 10/11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291840"/>
            <a:ext cx="4023360" cy="56692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19472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Python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3.13.x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023360" cy="56692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919472" y="4087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Java (JDK)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0" y="4087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6a. Resultados Experimentais – Python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16002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286000"/>
                <a:gridCol w="237744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77,32 ± 13,07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782,32 ± 79,04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7.851,24 ± 284,85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77,60 ± 14,85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779,99 ± 48,64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7.786,46 ± 316,21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90,32 ± 11,27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947,90 ± 162,32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10.714,53 ± 345,39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2468880"/>
          <a:ext cx="84124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6b. Resultados Experimentais – Java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16002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286000"/>
                <a:gridCol w="237744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20,98 ± 3,64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48,23 ± 11,68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111,33 ± 42,14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7,41 ± 6,81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58,97 ± 15,76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231,04 ± 10,98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 ± 0,06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14,40 ± 1,78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135,51 ± 10,72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2468880"/>
          <a:ext cx="84124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Comparação: Python vs. Java (n = 100.000)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943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005840"/>
            <a:ext cx="228600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2084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Melhor Caso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2084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7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~70x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72084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Java mais rápido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377440"/>
            <a:ext cx="228600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2084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Caso Médio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2084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7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720840" y="3200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Java mais rápido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3749040"/>
            <a:ext cx="228600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2084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Pior Caso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2084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7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~79x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72084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Java mais rápido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Aplicabilidade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🔍  Editores de Texto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substituição em arquivos. Base do grep e do Ctrl+F.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889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960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🧬  Bioinformática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41732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sequências em genomas com bilhões de pares de base.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822960"/>
            <a:ext cx="27889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960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🛡️  Segurança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41732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padrões maliciosos em IDS, antivírus e firewalls.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27889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17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🌐  Redes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7472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profunda de pacotes (DPI) para filtros de conteúdo.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27889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017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📦  Compressão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47472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LZ77 — usado em ZIP, GZIP e DEFLATE.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788920" cy="1920240"/>
          </a:xfrm>
          <a:prstGeom prst="round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017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⚠️  Limitação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47472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busca exata. Busca aproximada exige distância de Levenshtein ou BK-Tree.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Reflexão Final: Classe P e NP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4114800"/>
          </a:xfrm>
          <a:prstGeom prst="round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 KMP pertence à classe 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KMP resolve a busca exata de padrão em tempo linear O(n + m), que é polinomial em relação ao tamanho da entrada.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algoritmo determinístico que o resolve eficientemente para qualquer tamanho de entrada.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Θ(n + m)  ⊂  DTIME(n)  ⊂  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114800" cy="4114800"/>
          </a:xfrm>
          <a:prstGeom prst="round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14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🔗  Problemas NP Relacionados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74904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90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Substring Comum Mais Longa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 — DP O(n·m)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240280"/>
            <a:ext cx="374904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13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Menor Superstring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606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NP-completo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374904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136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Busca Aproximada (Edit Dist.)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429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 — DP O(n·m)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886200"/>
            <a:ext cx="374904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959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Expressões Regulares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42519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 — Autômatos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1371600"/>
            <a:ext cx="6400800" cy="64008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resolve busca de padrão em Θ(n + m) — ótimo em todos os casos.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0136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LPS é a chave: permite deslocar o padrão sem retroceder no texto.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96896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foi significativamente mais rápido que Python (~34–79x) para n = 100.000.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92424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experimentais confirmaram crescimento linear nas duas linguagens.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61104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87952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pertence à classe P e tem ampla aplicabilidade em bioinformática, segurança e compressão.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8188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AE6FD"/>
                </a:solidFill>
              </a:rPr>
              <a:t>github.com/PedroGarcez13/kmp-complexity-analysis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KMP – Análise de Complexidade de Tempo</dc:title>
  <dc:subject>PptxGenJS Presentation</dc:subject>
  <dc:creator>PptxGenJS</dc:creator>
  <cp:lastModifiedBy>PptxGenJS</cp:lastModifiedBy>
  <cp:revision>1</cp:revision>
  <dcterms:created xsi:type="dcterms:W3CDTF">2026-06-16T21:07:19Z</dcterms:created>
  <dcterms:modified xsi:type="dcterms:W3CDTF">2026-06-16T21:07:19Z</dcterms:modified>
</cp:coreProperties>
</file>